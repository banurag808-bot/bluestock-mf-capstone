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35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 introducing the Bluestock Mutual Fund Analytics project by Anurag Singh.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Core problem: 40+ schemes create information overload. Fund 119599 had 23% return but -52.57% drawdown. Six objectives cover full analytics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datasets processed via ETL pipeline. Python and Pandas for transformation, PostgreSQL for storage, Power BI for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Industry AUM reached 62.74 lakh crore with 26.12 crore folios. SIP inflows grew from 0.13M to 0.35M crore. Top 3 fund houses control 50% of AUM.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5,000 investors generated 33,000 transactions worth Rs 4 billion. SIP dominates at 58.49%. 18-25 cohort invests 50% less - micro-SIP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Composite scorecard ranks 40 funds. Fund 120505 wins at 100 - best risk-adjusted. Fund 119599 had highest return 23% but worst drawdown -52.57%.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advanced techniques: Rolling Sharpe shows temporal variation. SIP continuity identifies churn risk. HHI measures concentration. Max DD reveals tail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Page 1: Industry Overview dashboard. Four KPI cards, AUM growth trend chart, top 10 fund houses bar chart. Replace placeholder with actual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Page 2: Fund Performance dashboard. Risk vs Return scatter plot, fund scorecard table, NAV vs Benchmark chart. Replace placeholder with actual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Page 3: Investor analytics - Rs 4 billion, 5000 investors, 33000 transactions, 58.49% SIP. Page 4: SIP trends - 17.17% YoY, 9.35 Cr accounts, Liquid dominance.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 key findings with actionable recommendations for 4 stakeholder groups. Most critical: raw returns are dangerously misleading without risk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Project summary: 40 funds, 6 metrics, 5000 investors, 4-page dashboard, top fund score 100. Thank you for your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6C8FF"/>
                </a:solidFill>
                <a:latin typeface="Calibri"/>
              </a:defRPr>
            </a:pPr>
            <a:r>
              <a:t>DATA ANALYTICS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Bluestock Mutual Fund Analytics</a:t>
            </a:r>
            <a:br/>
            <a:r>
              <a:t>&amp; Investor Insights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3657600" cy="274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Anurag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D2FF"/>
                </a:solidFill>
                <a:latin typeface="Calibri"/>
              </a:defRPr>
            </a:pPr>
            <a:r>
              <a:t>Python  |  Pandas  |  NumPy  |  SciPy  |  PostgreSQL  |  Power BI  |  Matplotlib  |  Jupyter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B4DC"/>
                </a:solidFill>
                <a:latin typeface="Calibri"/>
              </a:defRPr>
            </a:pPr>
            <a:r>
              <a:t>June 2025  |  Mutual Fund Analytics 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- 40+ mutual fund schemes make comparison complex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- Raw returns mislead: 23% return fund had -52.57% drawdown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- Risk-adjusted metrics unavailable to retail investors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- SIP gaps of 36-93 days indicate potential churn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- No unified platform for industry, fund, and investor data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- Geographic and demographic insights are siloed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 Industry Analysis - AUM growth, SIP, fund houses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 Performance Analytics - CAGR, Sharpe, Sortino, Alpha, Beta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3. Risk Analytics - VaR, CVaR, Rolling Sharpe, Drawdown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4. Investor Analytics - Demographics, geography, behavior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5. Advanced Analytics - HHI, SIP continuity, cohorts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6. Dashboard Development - 4-page interactive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760720"/>
            <a:ext cx="11430000" cy="7315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399"/>
                </a:solidFill>
                <a:latin typeface="Calibri"/>
              </a:defRPr>
            </a:pPr>
            <a:r>
              <a:t>Goal: Build a scalable analytics platform that transforms mutual fund data into actionable insights for investors, fund managers, and wealth advisors.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 &amp; Project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 NAV History - Daily NAV for 40 schemes (2022-2026)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 Fund Master - Scheme metadata and expense ratios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3. Benchmark Data - Nifty 50 daily closing values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4. Investor Transactions - 5,000 investors, 33,000 records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5. SIP Dataset - Monthly inflows across 12 categories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6. Industry Dataset - Quarterly AUM by fund 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ARCHITECTURE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1645920" cy="777240"/>
          </a:xfrm>
          <a:prstGeom prst="round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Raw Data</a:t>
            </a:r>
            <a:br/>
            <a:r>
              <a:t>(CSV/SQL)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34640"/>
            <a:ext cx="1645920" cy="777240"/>
          </a:xfrm>
          <a:prstGeom prst="roundRect">
            <a:avLst/>
          </a:prstGeom>
          <a:solidFill>
            <a:srgbClr val="B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926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ETL &amp;</a:t>
            </a:r>
            <a:br/>
            <a:r>
              <a:t>Cleaning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920240"/>
            <a:ext cx="1645920" cy="777240"/>
          </a:xfrm>
          <a:prstGeom prst="roundRect">
            <a:avLst/>
          </a:prstGeom>
          <a:solidFill>
            <a:srgbClr val="A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EDA &amp;</a:t>
            </a:r>
            <a:br/>
            <a:r>
              <a:t>Visualization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834640"/>
            <a:ext cx="1645920" cy="777240"/>
          </a:xfrm>
          <a:prstGeom prst="roundRect">
            <a:avLst/>
          </a:prstGeom>
          <a:solidFill>
            <a:srgbClr val="8C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Performance</a:t>
            </a:r>
            <a:br/>
            <a:r>
              <a:t>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1920240"/>
            <a:ext cx="1645920" cy="777240"/>
          </a:xfrm>
          <a:prstGeom prst="roundRect">
            <a:avLst/>
          </a:prstGeom>
          <a:solidFill>
            <a:srgbClr val="7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6988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Advanced</a:t>
            </a:r>
            <a:br/>
            <a:r>
              <a:t>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2834640"/>
            <a:ext cx="1645920" cy="777240"/>
          </a:xfrm>
          <a:prstGeom prst="roundRect">
            <a:avLst/>
          </a:prstGeom>
          <a:solidFill>
            <a:srgbClr val="6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69880" y="2926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Power BI</a:t>
            </a:r>
            <a:br/>
            <a:r>
              <a:t>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11430000" cy="41148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407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OUTPUT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sharpe_values.csv | sortino_values.csv | alpha_beta.csv | max_drawdown.csv | fund_scorecard.csv | sip_continuity.csv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74519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SciPy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4380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Power BI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Matplotlib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5669280"/>
            <a:ext cx="1280160" cy="4572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78440" y="5715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Jupyter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Industry Analysis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73736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Rs 62.74L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Total AUM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188720"/>
            <a:ext cx="173736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Rs 31,000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Monthly SIP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173736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26.12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Total Folios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173736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Schemes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173736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17.17%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YoY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188720"/>
            <a:ext cx="173736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9.35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Active SIPs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77440"/>
            <a:ext cx="5669280" cy="41148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395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AUM GROWTH TREND (2022-2025)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AUM grew from Rs 82L Cr (2022) to peak Rs 150L Cr (mid-2024)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Correction to Rs 120L Cr by early 2025 due to volatility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Strong bull run 2023-2024 driven by domestic liquidity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SIP inflows: Rs 0.13M Cr (2022) to Rs 0.35M Cr (2025)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SIP growth persisted even during corrections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77440"/>
            <a:ext cx="5394960" cy="41148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395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 FUND HOUSES BY AUM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SBI Mutual Fund - Rs 13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ICICI Prudential MF - Rs 11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HDFC Mutual Fund - Rs 10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Nippon India MF - Rs 8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5. Kotak Mahindra MF - Rs 6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6. Aditya Birla Sun Life - Rs 5.5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7. UTI Mutual Fund - Rs 4.5 Lakh Crore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Top 3 control ~50% of total AUM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669280"/>
            <a:ext cx="11430000" cy="7315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Liquid category dominates with Rs 4,51,275 Cr (48.4% of inflows). Sectoral/Thematic at Rs 1,03,829 Cr.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Investor Analytics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56032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Rs 4 Billion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Total Investment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Rs 107.44K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Avg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56032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Total Investors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188720"/>
            <a:ext cx="2560320" cy="914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33,000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Total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77440"/>
            <a:ext cx="3657600" cy="41148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395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GEOGRAPHIC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Top: Punjab, Tamil Nadu, MP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Also: Rajasthan, Gujarat, WB, Telangana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Each contributes ~Rs 0.3 Billion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Uniform = broad penetration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377440"/>
            <a:ext cx="3657600" cy="41148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395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AGE-GROUP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26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- 18-25: Rs 50K average (lowest)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- 26-35: Rs 100K average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- 36-45: Rs 100K average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- 46-55: Rs 100K average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- 56+: Rs 100K average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377440"/>
            <a:ext cx="3657600" cy="41148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395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TRANSACTION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26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SIP: 58.49% (Rs 2 Bn)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Lumpsum: 35.34% (Rs 1 Bn)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Redemption: 6.17% only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Spike: Early 2025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Likely ELSS tax-saving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29200"/>
            <a:ext cx="11430000" cy="13716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3399"/>
                </a:solidFill>
                <a:latin typeface="Calibri"/>
              </a:defRPr>
            </a:pPr>
            <a:r>
              <a:t>KEY INSIGHTS:</a:t>
            </a:r>
          </a:p>
          <a:p>
            <a:pPr>
              <a:spcAft>
                <a:spcPts val="600"/>
              </a:spcAft>
              <a:defRPr sz="1100">
                <a:solidFill>
                  <a:srgbClr val="003399"/>
                </a:solidFill>
                <a:latin typeface="Calibri"/>
              </a:defRPr>
            </a:pPr>
            <a:r>
              <a:t>- 18-25 cohort invests 50% less - opportunity for micro-SIP products</a:t>
            </a:r>
          </a:p>
          <a:p>
            <a:pPr>
              <a:spcAft>
                <a:spcPts val="600"/>
              </a:spcAft>
              <a:defRPr sz="1100">
                <a:solidFill>
                  <a:srgbClr val="003399"/>
                </a:solidFill>
                <a:latin typeface="Calibri"/>
              </a:defRPr>
            </a:pPr>
            <a:r>
              <a:t>- SIP dominance at 58.49% validates systematic investing as primary channel</a:t>
            </a:r>
          </a:p>
          <a:p>
            <a:pPr>
              <a:spcAft>
                <a:spcPts val="600"/>
              </a:spcAft>
              <a:defRPr sz="1100">
                <a:solidFill>
                  <a:srgbClr val="003399"/>
                </a:solidFill>
                <a:latin typeface="Calibri"/>
              </a:defRPr>
            </a:pPr>
            <a:r>
              <a:t>- Low 6.17% redemption rate indicates strong investor stickiness</a:t>
            </a:r>
          </a:p>
          <a:p>
            <a:pPr>
              <a:spcAft>
                <a:spcPts val="600"/>
              </a:spcAft>
              <a:defRPr sz="1100">
                <a:solidFill>
                  <a:srgbClr val="003399"/>
                </a:solidFill>
                <a:latin typeface="Calibri"/>
              </a:defRPr>
            </a:pPr>
            <a:r>
              <a:t>- Monthly volume: 40-100 daily, spike in early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Performance Analytics - Risk-Adjusted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560320" cy="8229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14.09%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Avg 3Y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8229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0.54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Avg Sharpe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2560320" cy="8229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0.16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Avg Alpha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097280"/>
            <a:ext cx="2560320" cy="8229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libri"/>
              </a:defRPr>
            </a:pPr>
            <a:r>
              <a:t>100.00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Top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1143000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 10 FUND SCORECARD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AMFI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3Y Ret%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Alpha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Max DD%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2633472"/>
            <a:ext cx="1280160" cy="3200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Std Dev%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120505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100.00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18.08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-18.19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19.29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291839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119598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99.55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23.39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-28.71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25.14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149324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92.42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20.08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-31.17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24.84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840479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100033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90.69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16.58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-16.22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3840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18.94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288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120843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90.39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15.65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-12.97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15.89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72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119094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84.98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15.18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-20.96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19.41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148567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04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83.18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14.81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1.45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-11.27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14.19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572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288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149323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04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82.28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17.16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436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152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-17.25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0" y="4937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17.75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5212079"/>
            <a:ext cx="10972800" cy="274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572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288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148569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004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75.90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13.58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436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1.23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8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-16.40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58400" y="5212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17.67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572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288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118634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004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75.15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20.15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436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0.45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0.21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-23.34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58400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25.24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Fund 120505 scores 100/100 - best RISK-ADJUSTED balance. Fund 119599 has 23.14% return but ranks 13th due to -52.57% drawdown.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Advanced Analytics - Quantitative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ROLLING 90-DAY SHARPE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120505: Started at 5.8, stabilized at 2-3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120843: Most volatile, range -1 to 6.2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149324: Dropped to -2.5 in late 2023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Even top funds have negative Sharpe periods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Static metrics mask temporal variation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SIP CONTINUITY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INV000028: 93.6 gap days - highest churn risk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INV000004: 85.4 days - nearly quarterly gaps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INV000072: 83.0 days - severe disengagement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- 36-50 day cohort: best recovery probability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Auto-debit reduces churn significantly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566928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6758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SECTOR CONCENTRATION (HHI)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119092: HHI 0.205 (Highly Concentrated)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101207: HHI 0.200 (Highly Concentrated)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120505 (Rank 1): HHI 0.160 (Moderate)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High HHI + Low Sharpe = poor outcome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Optimal zone: HHI 0.12-0.16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57784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67588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TAIL RISK: 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16052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Worst: Fund 119599 at -52.57%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119095: -51.68% (May 2026)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Fund 101207: -35.45%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Best equity: Fund 120843 at -12.97%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- Safest: Fund 101208 at -0.16% (debt)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43600"/>
            <a:ext cx="11430000" cy="54864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99"/>
                </a:solidFill>
                <a:latin typeface="Calibri"/>
              </a:defRPr>
            </a:pPr>
            <a:r>
              <a:t>Critical: Extreme HHI &gt; 0.18 correlates with poor risk-adjusted returns. Fund 119092 has highest HHI (0.205) but Sharpe of only 0.03.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Power BI Dashboard - Industry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solidFill>
            <a:srgbClr val="F0F5FF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5AB4"/>
                </a:solidFill>
                <a:latin typeface="Calibri"/>
              </a:defRPr>
            </a:pPr>
            <a:r>
              <a:t>[INSERT: Industry Overview Dashboard Screenshot]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188720"/>
            <a:ext cx="338328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207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KPI Cards: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Total AUM: Rs 62.74L Cr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SIP Inflows: Rs 31K Cr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Folios: 26.12 Cr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Schemes: 40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Visualizations: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AUM Growth Trend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Top 10 Fund Houses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Filters: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Fund House selector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Date: 03/2022 - 12/2025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Navigation: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Fund Performance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Investor Analytics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SIP &amp; Market Trends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8A6289-B8A9-6ECF-0274-111DC6A4A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1"/>
            <a:ext cx="7772400" cy="51924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Power BI Dashboard - Fund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solidFill>
            <a:srgbClr val="F0F5FF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5AB4"/>
                </a:solidFill>
                <a:latin typeface="Calibri"/>
              </a:defRPr>
            </a:pPr>
            <a:r>
              <a:t>[INSERT: Fund Performance Dashboard Screenshot]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188720"/>
            <a:ext cx="338328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207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KPI Cards: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Avg 3Y Return: 14.09%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Avg Sharpe: 0.54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Avg Alpha: 0.16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Top Score: 100.00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Visualizations: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Risk vs Return scatter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Equity vs Debt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Fund Scorecard table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NAV vs Benchmark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Key Feature: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Composite scoring 0-100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Multi-metric ranking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Filters: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  - Fund House, Category, Plan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052505-BEB0-18C3-82E4-93D9B490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18872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Power BI Dashboard - Investor &amp; SIP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5029200"/>
          </a:xfrm>
          <a:prstGeom prst="rect">
            <a:avLst/>
          </a:prstGeom>
          <a:solidFill>
            <a:srgbClr val="F0F5FF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5AB4"/>
                </a:solidFill>
                <a:latin typeface="Calibri"/>
              </a:defRPr>
            </a:pPr>
            <a:r>
              <a:t>[INSERT: Investor Analytics Screenshot]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188720"/>
            <a:ext cx="5577840" cy="5029200"/>
          </a:xfrm>
          <a:prstGeom prst="rect">
            <a:avLst/>
          </a:prstGeom>
          <a:solidFill>
            <a:srgbClr val="F0F5FF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5AB4"/>
                </a:solidFill>
                <a:latin typeface="Calibri"/>
              </a:defRPr>
            </a:pPr>
            <a:r>
              <a:t>[INSERT: SIP &amp; Market Trends Screenshot]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669280" cy="32004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PAGE 3: INVESTOR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32004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070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PAGE 4: SIP &amp; MARKET TRENDS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712BD4-A759-D8D0-A259-005057A4F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5669280" cy="4709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F88A81-9FF1-C335-77A6-1570D4BA3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99616"/>
            <a:ext cx="5577840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Findings &amp;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 12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1. Fund 120505 = Score 100/100 (best risk-adjusted)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2. Fund 119599: 23% return but -52.57% DD = Rank 13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3. SIP = 58.49% of all flows (dominant channel)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4. Liquid = 48.4% of total inflows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5. Top 3 fund houses control ~50% of AUM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6. Rolling Sharpe reveals temporal instability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7. 20+ investors At Risk (gap &gt; 60 days)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8. High HHI correlates with poor Sharpe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9. 18-25 cohort invests 50% less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10. 17.17% YoY growth = structural shift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11. Fund 120843: Sharpe 1.31, DD -12.97%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12. Near-zero daily Beta across all funds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115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FOR RETAIL INVESTORS: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Use Sharpe &gt; 1.0 and Max DD &lt; -20%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Maintain SIP via auto-debit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Diversify across 2-3 categories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FOR FUND MANAGERS: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Monitor rolling Sharpe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Target moderate HHI (0.12-0.16)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FOR AMCs: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Build ML churn prediction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Launch micro-SIP (Rs 100-500)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Re-engage 40-75 gap-day investors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FOR WEALTH ADVISORS: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Use 0-100 scorecard for clients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Expand into Tier 2/3 cities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- Use drawdown for expectations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3017520" cy="274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D2FF"/>
                </a:solidFill>
                <a:latin typeface="Calibri"/>
              </a:defRPr>
            </a:pPr>
            <a:r>
              <a:t>Bluestock Mutual Fund Analytics &amp; Investor Insights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1828800" cy="914400"/>
          </a:xfrm>
          <a:prstGeom prst="round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40 Funds</a:t>
            </a:r>
            <a:br/>
            <a:r>
              <a:t>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926080"/>
            <a:ext cx="1828800" cy="914400"/>
          </a:xfrm>
          <a:prstGeom prst="round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 Risk</a:t>
            </a:r>
            <a:br/>
            <a:r>
              <a:t>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926080"/>
            <a:ext cx="1828800" cy="914400"/>
          </a:xfrm>
          <a:prstGeom prst="round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5,000</a:t>
            </a:r>
            <a:br/>
            <a:r>
              <a:t>Investors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2926080"/>
            <a:ext cx="1828800" cy="914400"/>
          </a:xfrm>
          <a:prstGeom prst="round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9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4-Page</a:t>
            </a:r>
            <a:br/>
            <a: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926080"/>
            <a:ext cx="1828800" cy="914400"/>
          </a:xfrm>
          <a:prstGeom prst="round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100/100</a:t>
            </a:r>
            <a:br/>
            <a:r>
              <a:t>Top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FF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754880"/>
            <a:ext cx="210312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Anurag Singh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D2FF"/>
                </a:solidFill>
                <a:latin typeface="Calibri"/>
              </a:defRPr>
            </a:pPr>
            <a:r>
              <a:t>Data Analytics | Mutual Fund Analytics | Business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B4DC"/>
                </a:solidFill>
                <a:latin typeface="Calibri"/>
              </a:defRPr>
            </a:pPr>
            <a:r>
              <a:t>Python | SQL | Power BI | Advanced Analytics | Dashboard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1914</Words>
  <Application>Microsoft Office PowerPoint</Application>
  <PresentationFormat>Widescreen</PresentationFormat>
  <Paragraphs>334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SINGH</cp:lastModifiedBy>
  <cp:revision>2</cp:revision>
  <dcterms:created xsi:type="dcterms:W3CDTF">2013-01-27T09:14:16Z</dcterms:created>
  <dcterms:modified xsi:type="dcterms:W3CDTF">2026-06-26T05:06:50Z</dcterms:modified>
  <cp:category/>
</cp:coreProperties>
</file>